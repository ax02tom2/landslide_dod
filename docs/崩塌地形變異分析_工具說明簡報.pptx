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icrosoft JhengHei"/>
              </a:rPr>
              <a:t>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96012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崩塌地形變異分析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178308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CE6F0"/>
                </a:solidFill>
                <a:latin typeface="Microsoft JhengHei"/>
              </a:rPr>
              <a:t>DoD／崩塌量體／殘餘土體／剖面／成果匯出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0512" y="242316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JhengHei"/>
              </a:rPr>
              <a:t>工具使用與分析方法說明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324612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7E1"/>
                </a:solidFill>
                <a:latin typeface="Microsoft JhengHei"/>
              </a:rPr>
              <a:t>依原始 landslide_dod-main 程式版本整理
本簡報不包含 Supabase 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489204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JhengHei"/>
              </a:rPr>
              <a:t>重點：每個 UI 選項做什麼、計算邏輯是什麼、哪些結果屬於假設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這個工具解決什麼問題？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從兩期 DEM / DSM 變化，整理成可檢查的崩塌分析成果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7335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① 地形變化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T1、T2 對齊後計算 DoD，判斷地表降低與抬升。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7335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② 崩塌與堆積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以 LoD 排除小幅變化，再統計侵蝕／崩塌與堆積的面積、深度、體積。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7335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③ 殘餘土體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671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在潛在滑動體範圍內，依假設或外部資料建立滑動面，再估算地表與滑動面間的體積。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794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3794760"/>
            <a:ext cx="73152" cy="173736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9593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④ 剖面與匯出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45312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沿剖面線取樣，輸出剖面資料、DXF，以及 DoD／殘餘土體／Excel 成果。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94760"/>
            <a:ext cx="73152" cy="173736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593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⚠️ 不等於邊坡穩定分析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5312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工具可以量化地表變化與情境式殘餘土體，但不會由 DoD 單獨證明地下滑動面或安全係數。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完整作業流程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建議按照以下順序執行，避免分析範圍與資料來源混淆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案件管理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7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① 前處理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924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② DoD 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59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694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2D41"/>
                </a:solidFill>
                <a:latin typeface="Microsoft JhengHei"/>
              </a:rPr>
              <a:t>差異與量體
／殘餘土體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2468880"/>
            <a:ext cx="7315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04120" y="2011680"/>
            <a:ext cx="1645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37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084832"/>
            <a:ext cx="1463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匯出成果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C2D41"/>
                </a:solidFill>
                <a:latin typeface="Microsoft JhengHei"/>
              </a:rPr>
              <a:t>前處理不是「分析」本身：它主要處理大檔、裁切與降採樣，減少後續記憶體與運算負擔。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3"/>
                </a:solidFill>
                <a:latin typeface="Microsoft JhengHei"/>
              </a:rPr>
              <a:t>核心原則：先準備資料與圈繪範圍 → 做 DoD → 在「差異與量體」選實際崩塌／堆積區、在「殘餘土體」選潛在滑動體 → 建立滑動面情境 → 剖面與匯出。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資料準備：T1 / T2 與座標系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原始程式要求的重點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DEM / DSM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輸入兩期 GeoTIFF。
建議使用投影座標系，例如 TWD97 TM2 / EPSG:3826，水平單位為公尺。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82880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兩期網格不完全相同也可以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T2 會重投影／對齊到 T1 網格，再計算交集範圍。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NoData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024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若資料內使用 -9999 等特殊值，但 GeoTIFF 沒有正確宣告 NoData，可在側欄提供「額外 NoData 值」。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118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611880"/>
            <a:ext cx="73152" cy="182880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76472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正射影像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70248"/>
            <a:ext cx="4983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只作為地圖底圖，不參與 DoD 數值計算。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① 前處理｜裁切與縮小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每個選項的目的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10312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裁切範圍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154679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矩形框、手動座標，或整幅資料。
若有明確分析區，建議保留必要的穩定區緩衝，不要只裁到崩塌線內。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73152" cy="210312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鎖定範圍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3154679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避免後續操作時不小心改變已確認的裁切範圍。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32588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325880"/>
            <a:ext cx="73152" cy="210312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4904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DEM 降採樣倍率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984248"/>
            <a:ext cx="3154679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1 = 不縮小；倍率越大，像元數越少、速度越快，但空間細節也會下降。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164592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正射影像降採樣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53128"/>
            <a:ext cx="31546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只影響底圖顯示與檔案大小，不改變 DEM 分析數值。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9476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794760"/>
            <a:ext cx="73152" cy="164592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959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大檔警示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453128"/>
            <a:ext cx="31546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程式會估算像元數與記憶體需求；超大資料應優先裁切、分塊處理或在本機執行。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79476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3794760"/>
            <a:ext cx="73152" cy="164592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3959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核心觀念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453128"/>
            <a:ext cx="31546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「潛在滑動體」是分析遮罩，不會直接把原始 DEM 陣列縮小；真正節省記憶體的是前處理裁切／降採樣。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② DoD｜最核心的計算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兩期地表高程差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2D6496"/>
                </a:solidFill>
                <a:latin typeface="Microsoft JhengHei"/>
              </a:rPr>
              <a:t>dz = T2 − T1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73152" cy="155448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dz &lt; −LoD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地表降低 → 視為侵蝕／崩塌候選區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432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43200"/>
            <a:ext cx="73152" cy="155448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|dz| ≤ LoD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01568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變化小於偵測門檻 → 視為雜訊／不納入主要量體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7432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73152" cy="155448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0779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dz &gt; +LoD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401568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地表升高 → 視為堆積候選區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2D41"/>
                </a:solidFill>
                <a:latin typeface="Microsoft JhengHei"/>
              </a:rPr>
              <a:t>因此 LoD 不是「把崩塌深度改小」，而是決定哪些像元有資格進入量體統計。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地圖圈繪與分析範圍選擇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同一類型可以畫多個區塊；在對應分析頁再選「全部」或指定區塊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3737"/>
                </a:solidFill>
                <a:latin typeface="Microsoft JhengHei"/>
              </a:rPr>
              <a:t>實際崩塌範圍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可畫多個 polygon；在「差異與量體」頁選「全部」或指定實際崩塌區。最後仍與 dz &lt; −LoD 相交。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7782D"/>
                </a:solidFill>
                <a:latin typeface="Microsoft JhengHei"/>
              </a:rPr>
              <a:t>潛在滑動體範圍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整個可能不穩定體，包含已崩與尚未崩部分；在「殘餘土體」頁選「全部」或指定潛在滑動體。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2588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6496"/>
                </a:solidFill>
                <a:latin typeface="Microsoft JhengHei"/>
              </a:rPr>
              <a:t>堆積區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可畫多個 polygon；在「差異與量體」頁選「全部」或指定堆積區。若未圈繪，則自動統計整個有效分析區的 dz &gt; +LoD。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73152" cy="182880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307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7D55"/>
                </a:solidFill>
                <a:latin typeface="Microsoft JhengHei"/>
              </a:rPr>
              <a:t>穩定區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供 T1/T2 對位校正使用，不是崩塌統計區。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66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66160"/>
            <a:ext cx="73152" cy="182880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7307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F6973"/>
                </a:solidFill>
                <a:latin typeface="Microsoft JhengHei"/>
              </a:rPr>
              <a:t>排除區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245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植被、水體、建物等不可靠區域，從有效分析遮罩排除。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66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566160"/>
            <a:ext cx="73152" cy="182880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73075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94B91"/>
                </a:solidFill>
                <a:latin typeface="Microsoft JhengHei"/>
              </a:rPr>
              <a:t>剖面線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22452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用來抽取剖面高程、DoD 與殘餘土體資料。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43737"/>
                </a:solidFill>
                <a:latin typeface="Microsoft JhengHei"/>
              </a:rPr>
              <a:t>重要：潛在滑動體 ≠ 實際崩塌範圍。堆積土體則統一在「差異與量體」管理；「殘餘土體」頁只處理潛在滑動體內的殘餘不穩定土體。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對位校正：為什麼要用穩定區？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降低兩期 DEM 的整體偏移或傾斜造成的假 DoD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92024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不校正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直接使用 T2 − T1。
適合已確認兩期資料基準一致的情況。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73152" cy="192024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2763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平移（中位數）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21408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在穩定區估計一個常數偏移量，再修正整幅 DoD。
對局部穩定區有代表性時較直觀。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63040"/>
            <a:ext cx="73152" cy="192024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62763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平面（平移＋傾斜）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121408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以 a + bX + cY 擬合穩定區的系統差異，可處理空間性傾斜誤差。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C2D41"/>
                </a:solidFill>
                <a:latin typeface="Microsoft JhengHei"/>
              </a:rPr>
              <a:t>程式會反覆以殘差約 3σ 的方式排除異常值，並限制抽樣點數；穩定像元不足時無法可靠校正。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43737"/>
                </a:solidFill>
                <a:latin typeface="Microsoft JhengHei"/>
              </a:rPr>
              <a:t>穩定區選錯，校正反而可能把真實地形變化當成誤差。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LoD｜Level of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決定哪些 DoD 變化值得進入量體統計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D6496"/>
                </a:solidFill>
                <a:latin typeface="Microsoft JhengHei"/>
              </a:rPr>
              <a:t>LoD = 0.30 m（預設值）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73152" cy="192024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太小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7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可能把 DEM 誤差、配準誤差、植被或其他非地形訊號算成崩塌／堆積。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3317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331720"/>
            <a:ext cx="73152" cy="192024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49631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合理門檻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990087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應與資料精度、對位品質、地表條件及誤差評估相符，而不是固定套用單一數字。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317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331720"/>
            <a:ext cx="73152" cy="192024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49631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太大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990087"/>
            <a:ext cx="30632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會漏掉真實的小幅地形變化，使崩塌／堆積量體偏小。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Microsoft JhengHei"/>
              </a:rPr>
              <a:t>本工具可用穩定區的統計特性作為參考，例如 |平均| + 1.96σ；但這是工具內的統計化建議，不是通用工程規範。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崩塌／堆積量體怎麼算？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由 DoD 直接統計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3737"/>
                </a:solidFill>
                <a:latin typeface="Microsoft JhengHei"/>
              </a:rPr>
              <a:t>崩塌體積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C2D41"/>
                </a:solidFill>
                <a:latin typeface="Microsoft JhengHei"/>
              </a:rPr>
              <a:t>Vₑ = Σ(−dz) × A    ，dz &lt; −LoD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6496"/>
                </a:solidFill>
                <a:latin typeface="Microsoft JhengHei"/>
              </a:rPr>
              <a:t>堆積體積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D41"/>
                </a:solidFill>
                <a:latin typeface="Microsoft JhengHei"/>
              </a:rPr>
              <a:t>Vd = Σ(dz) × A    ，dz &gt; +LoD
未圈繪堆積區：統計整個有效分析區；有圈繪時：依「堆積區分析範圍」選擇全部或指定區塊。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54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73152" cy="155448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192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A = 像元面積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13048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由 DEM 網格的水平解析度決定。
例如 1 m × 1 m → A = 1 m²。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154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3154680"/>
            <a:ext cx="73152" cy="155448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3192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崩塌面積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813048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icrosoft JhengHei"/>
              </a:rPr>
              <a:t>符合 dz &lt; −LoD 的像元數 × A。若指定實際崩塌 polygon，會再與其相交；可在「差異與量體」選擇特定區塊。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5468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154680"/>
            <a:ext cx="73152" cy="155448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3192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最大／平均深度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13048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從符合條件的 DoD lowering 像元直接統計，不代表地下滑動面深度。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堆積土體只在「差異與量體」統一管理。淨體積 = 堆積體積 − 崩塌體積；差異大不一定代表計算錯誤，還可能有搬運到分析區外、其他來源或膨脹係數假設等因素。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膨脹係數：為什麼崩塌量不一定等於堆積量？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差異量檢核的情境工具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D7782D"/>
                </a:solidFill>
                <a:latin typeface="Microsoft JhengHei"/>
              </a:rPr>
              <a:t>預期堆積量 = 崩塌體積 × 膨脹係數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73152" cy="173736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土／砂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64408"/>
            <a:ext cx="28803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程式說明文字提供約 1.1～1.3 的起始參考。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60604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606040"/>
            <a:ext cx="73152" cy="173736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70632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岩體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64408"/>
            <a:ext cx="28803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程式說明文字提供約 1.3～1.6 的起始參考。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60604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606040"/>
            <a:ext cx="73152" cy="1737360"/>
          </a:xfrm>
          <a:prstGeom prst="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770632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F6973"/>
                </a:solidFill>
                <a:latin typeface="Microsoft JhengHei"/>
              </a:rPr>
              <a:t>不是質量守恆證明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64408"/>
            <a:ext cx="28803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實際差異會受到堆積區是否完整、土石外運、其他來源與資料誤差影響。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2D41"/>
                </a:solidFill>
                <a:latin typeface="Microsoft JhengHei"/>
              </a:rPr>
              <a:t>用途：作為「量體合理性檢核」；不要把它解讀成精確的物質守恆計算。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殘餘土體｜先釐清它到底在算什麼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不是「崩塌深度」的另一種說法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D7782D"/>
                </a:solidFill>
                <a:latin typeface="Microsoft JhengHei"/>
              </a:rPr>
              <a:t>殘餘厚度 = max(T2 − 滑動面高程,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73152" cy="155448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0087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事件後／第二期地表高程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331720"/>
            <a:ext cx="73152" cy="155448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49631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滑動面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90087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假設或外部資料提供的地下界面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33172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331720"/>
            <a:ext cx="73152" cy="155448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496312"/>
            <a:ext cx="2697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兩者之間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90087"/>
            <a:ext cx="26974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在潛在滑動體範圍內形成幾何體積，即殘餘土體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C2D41"/>
                </a:solidFill>
                <a:latin typeface="Microsoft JhengHei"/>
              </a:rPr>
              <a:t>殘餘體積 = Σ(殘餘厚度 × 像元面積)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3"/>
                </a:solidFill>
                <a:latin typeface="Microsoft JhengHei"/>
              </a:rPr>
              <a:t>殘餘土體只處理「潛在滑動體內仍存在的土體」。堆積土體的統計統一放在「差異與量體」頁，兩者不要混為同一個量體。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滑動面有 3 種方法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由「簡單情境」到「外部工程資料」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306324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A｜等深度假設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Slip = T1 − d
以固定深度 d 建立水平／等深度基準。
建議：把它當作基準情境，再做敏感度。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73152" cy="306324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904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B｜DoD 幾何推估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84248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利用崩塌區、未崩區與邊界做幾何內插。
屬研究性方法，不是地下工程量測。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73152" cy="306324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904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C｜上傳滑動面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84248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輸入 GeoTIFF，可指定「高程」或「T1 以下深度」。
若有鑽孔、地球物理或工程地質成果，較適合用這種方式。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43737"/>
                </a:solidFill>
                <a:latin typeface="Microsoft JhengHei"/>
              </a:rPr>
              <a:t>最重要的原則：DoD 本身只描述地表變化，不能單獨唯一決定地下滑動面。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Microsoft JhengHei"/>
              </a:rPr>
              <a:t>若沒有地下資料，請把等深度／DoD 幾何推估明確標示為「假設」或「研究性估算」。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基準深度怎麼選？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工具提供 median / mean / P90 / custom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2880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中位數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較不容易被極端深度拉動。
若必須選一個單一代表值，通常可作為較穩健的基準情境。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73152" cy="288036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平均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反映整體平均 lowering，但容易受到少數深／淺極端值影響。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288036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P90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較保守的深度情境；適合拿來看高深度假設下的體積反應。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6517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73152" cy="288036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53619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94B91"/>
                </a:solidFill>
                <a:latin typeface="Microsoft JhengHei"/>
              </a:rPr>
              <a:t>自訂 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29967"/>
            <a:ext cx="2240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如果有工程判斷或外部資料，可直接指定 d。
應在報告中說明來源。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43737"/>
                </a:solidFill>
                <a:latin typeface="Microsoft JhengHei"/>
              </a:rPr>
              <a:t>注意：median / mean / P90 / max 是「DoD 地表降低深度統計」，不是地下滑動面深度量測。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敏感度分析｜把「不知道」量化出來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比較不同滑動面深度假設下的殘餘體積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94B91"/>
                </a:solidFill>
                <a:latin typeface="Microsoft JhengHei"/>
              </a:rPr>
              <a:t>V(d) = Σ max(d + dz, 0) ×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3152" cy="150876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D6496"/>
                </a:solidFill>
                <a:latin typeface="Microsoft JhengHei"/>
              </a:rPr>
              <a:t>最小深度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例如 1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2316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423160"/>
            <a:ext cx="73152" cy="150876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5877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782D"/>
                </a:solidFill>
                <a:latin typeface="Microsoft JhengHei"/>
              </a:rPr>
              <a:t>最大深度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08152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例如 10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2316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73152" cy="15087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5877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步距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81528"/>
            <a:ext cx="2788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例如每 0.5 m 一個情境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2D41"/>
                </a:solidFill>
                <a:latin typeface="Microsoft JhengHei"/>
              </a:rPr>
              <a:t>輸出結果可以回答：如果滑動面假設從 2 m 加深到 5 m，殘餘土體估算會增加多少？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Microsoft JhengHei"/>
              </a:rPr>
              <a:t>這比只報一個沒有來源的「唯一滑動面深度」更能誠實呈現不確定性。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剖面分析｜把 2D 地圖轉成 1D 剖面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沿著剖面線取樣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371600"/>
            <a:ext cx="73152" cy="164592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94B91"/>
                </a:solidFill>
                <a:latin typeface="Microsoft JhengHei"/>
              </a:rPr>
              <a:t>剖面線來源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1892807"/>
            <a:ext cx="3063239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可在地圖畫線，或手動輸入起終點。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1371600"/>
            <a:ext cx="73152" cy="164592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Microsoft JhengHei"/>
              </a:rPr>
              <a:t>採樣間距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1892807"/>
            <a:ext cx="3063239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決定沿線取樣的密度；需與 DEM 解析度及資料品質搭配。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1371600"/>
            <a:ext cx="73152" cy="164592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15361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7782D"/>
                </a:solidFill>
                <a:latin typeface="Microsoft JhengHei"/>
              </a:rPr>
              <a:t>垂直誇張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1892807"/>
            <a:ext cx="3063239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只改變圖面視覺比例，不改變計算出的高程或面積。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6118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C2D41"/>
                </a:solidFill>
                <a:latin typeface="Microsoft JhengHei"/>
              </a:rPr>
              <a:t>剖面可同時呈現 T1、T2、DoD 與殘餘土體相關資訊，並計算侵蝕／崩塌及堆積的剖面面積。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720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94B91"/>
                </a:solidFill>
                <a:latin typeface="Microsoft JhengHei"/>
              </a:rPr>
              <a:t>成果：剖面圖、CSV、DXF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匯出成果｜每個檔案拿來做什麼？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方便後續 GIS、工程報告與 CAD 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1234440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1234440"/>
            <a:ext cx="73152" cy="80467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1399032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Microsoft JhengHei"/>
              </a:rPr>
              <a:t>DoD差異高程.tif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1755648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兩期高程差 dz 的 GeoTIFF，可在 GIS 中查看地表降低／抬升結果。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2221992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2221992"/>
            <a:ext cx="73152" cy="804672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386584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7782D"/>
                </a:solidFill>
                <a:latin typeface="Microsoft JhengHei"/>
              </a:rPr>
              <a:t>殘餘土體厚度.tif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2743200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T2 與滑動面之間的殘餘土體厚度 raster，可進一步做空間分析。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209544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209544"/>
            <a:ext cx="73152" cy="80467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3374136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D55"/>
                </a:solidFill>
                <a:latin typeface="Microsoft JhengHei"/>
              </a:rPr>
              <a:t>分析結果.xlsx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730752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包含參數、實際崩塌／堆積統計、各分析範圍選擇、殘餘土體、深度敏感度、校正與剖面等表格。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197096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" y="4197096"/>
            <a:ext cx="73152" cy="804672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361688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94B91"/>
                </a:solidFill>
                <a:latin typeface="Microsoft JhengHei"/>
              </a:rPr>
              <a:t>剖面資料.csv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沿剖面線的數值資料，方便 Excel、Python 或其他工具後續分析。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184648"/>
            <a:ext cx="105156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5184648"/>
            <a:ext cx="73152" cy="804672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349240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3737"/>
                </a:solidFill>
                <a:latin typeface="Microsoft JhengHei"/>
              </a:rPr>
              <a:t>剖面圖資.dxf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705856"/>
            <a:ext cx="10104120" cy="192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Microsoft JhengHei"/>
              </a:rPr>
              <a:t>剖面相關圖資，供 CAD／GIS 等工具進一步使用。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結果檢核｜看到數字先問這 8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避免把「看起來合理」誤當成「一定正確」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1234440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1234440"/>
            <a:ext cx="73152" cy="89611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1380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6496"/>
                </a:solidFill>
                <a:latin typeface="Microsoft Jheng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170078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T1 / T2 CRS、水平／垂直基準是否一致？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1234440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1234440"/>
            <a:ext cx="73152" cy="896112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1380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7782D"/>
                </a:solidFill>
                <a:latin typeface="Microsoft JhengHe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170078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兩期資料的日期、解析度與來源是否清楚？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350008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" y="2350008"/>
            <a:ext cx="73152" cy="89611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2496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7D55"/>
                </a:solidFill>
                <a:latin typeface="Microsoft JhengHe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281635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穩定區是否真的穩定？有沒有把崩塌或施工區圈進去？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2350008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2350008"/>
            <a:ext cx="73152" cy="896112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11112" y="2496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94B91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1112" y="281635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LoD 是否有資料精度或穩定區誤差依據？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465576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" y="3465576"/>
            <a:ext cx="73152" cy="89611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36118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6496"/>
                </a:solidFill>
                <a:latin typeface="Microsoft JhengHe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393192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排除區是否涵蓋樹木、建物、水面等非地表訊號？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3465576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0" y="3465576"/>
            <a:ext cx="73152" cy="896112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11112" y="36118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7782D"/>
                </a:solidFill>
                <a:latin typeface="Microsoft JhengHe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11112" y="393192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實際崩塌與堆積分析範圍是否選對？是否需要指定某一個區塊，而不是「全部」？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4581144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" y="4581144"/>
            <a:ext cx="73152" cy="896112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" y="472744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7D55"/>
                </a:solidFill>
                <a:latin typeface="Microsoft JhengHe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" y="50474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Microsoft JhengHei"/>
              </a:rPr>
              <a:t>殘餘土體的滑動面來源是「假設」還是「量測」？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9360" y="4581144"/>
            <a:ext cx="52578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81144"/>
            <a:ext cx="73152" cy="896112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112" y="472744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94B91"/>
                </a:solidFill>
                <a:latin typeface="Microsoft JhengHei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11112" y="50474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icrosoft JhengHei"/>
              </a:rPr>
              <a:t>殘餘土體的潛在滑動體是否選對？敏感度範圍是否足以反映不確定性？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方法限制：哪些話不能直接從工具結果推出？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這一頁建議放進正式報告的品質控管觀念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不能直接說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「DoD 最大崩塌深度 = 地下滑動面深度」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不能直接說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「殘餘土體體積 = 真實可滑動土體體積」
除非滑動面來源與假設已獲工程資料支持。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325880"/>
            <a:ext cx="73152" cy="18288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490472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3737"/>
                </a:solidFill>
                <a:latin typeface="Microsoft JhengHei"/>
              </a:rPr>
              <a:t>不能直接說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84248"/>
            <a:ext cx="30632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「崩塌量 × 膨脹係數 = 一定會出現在指定堆積區」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73152" cy="1737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可以合理說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「兩期地形差分顯示的 lowering／raising 與其門檻化量體」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703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703320"/>
            <a:ext cx="73152" cy="1737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86791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可以合理說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36168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「在指定滑動面假設下估算的殘餘土體情境」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703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3703320"/>
            <a:ext cx="73152" cy="17373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867911"/>
            <a:ext cx="30632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7D55"/>
                </a:solidFill>
                <a:latin typeface="Microsoft JhengHei"/>
              </a:rPr>
              <a:t>可以合理說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361688"/>
            <a:ext cx="3063239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「不同深度假設下的敏感度範圍」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參考依據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本簡報的程式細節以原始專案為準；外部文獻用於方法背景與限制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1. 原始專案：landslide_dod-main（app.py、pages/0_cases.py、pages/1_preprocess.py、pages/2_analysis.py、core.py、README.md）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2. USGS SIR 2024-5070：多期地形差異、minimum level of detection、thresholded volume 與誤差概念。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523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3. USGS：Analysis of elevation changes detected from multi-temporal LiDAR surveys in forested landslide terrain in western Oregon。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65576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4. USGS Professional Paper 1311：案例中以鑽孔、地震折射等資料取得 failure surface 深度。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5. USGS Bulletin 1842-D：Slip Surfaces in Landslides，滑動面與剪切帶背景。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icrosoft JhengHei"/>
              </a:rPr>
              <a:t>6. USGS OFR 2024-1071：大型 landslide 厚度／failure surface 深度估計的不確定性。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D41"/>
                </a:solidFill>
                <a:latin typeface="Microsoft JhengHei"/>
              </a:rPr>
              <a:t>正式工程報告仍應揭露：資料來源與日期、CRS、LoD、校正模式、圈繪範圍、膨脹係數、滑動面來源與敏感度範圍。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D41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Microsoft JhengHei"/>
              </a:rPr>
              <a:t>這個工具最適合怎麼使用？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931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D6496"/>
                </a:solidFill>
                <a:latin typeface="Microsoft Jheng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C2D41"/>
                </a:solidFill>
                <a:latin typeface="Microsoft JhengHei"/>
              </a:rPr>
              <a:t>先把「地表變化」與「地下假設」分開。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73152" cy="1828800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24912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6496"/>
                </a:solidFill>
                <a:latin typeface="Microsoft JhengHei"/>
              </a:rPr>
              <a:t>地表變化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7"/>
            <a:ext cx="28346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icrosoft JhengHei"/>
              </a:rPr>
              <a:t>DoD = T2 − T1
LoD → 崩塌／堆積量體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560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560320"/>
            <a:ext cx="73152" cy="1828800"/>
          </a:xfrm>
          <a:prstGeom prst="rect">
            <a:avLst/>
          </a:prstGeom>
          <a:solidFill>
            <a:srgbClr val="D7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724912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7782D"/>
                </a:solidFill>
                <a:latin typeface="Microsoft JhengHei"/>
              </a:rPr>
              <a:t>地下假設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18687"/>
            <a:ext cx="28346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icrosoft JhengHei"/>
              </a:rPr>
              <a:t>滑動面來源決定殘餘土體估算
沒有地下資料時要明確標示假設
堆積土體則統一在「差異與量體」管理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560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560320"/>
            <a:ext cx="73152" cy="1828800"/>
          </a:xfrm>
          <a:prstGeom prst="rect">
            <a:avLst/>
          </a:prstGeom>
          <a:solidFill>
            <a:srgbClr val="6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724912"/>
            <a:ext cx="2834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94B91"/>
                </a:solidFill>
                <a:latin typeface="Microsoft JhengHei"/>
              </a:rPr>
              <a:t>不確定性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18687"/>
            <a:ext cx="283463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icrosoft JhengHei"/>
              </a:rPr>
              <a:t>用敏感度分析呈現不同深度假設的結果範圍
各分析頁只選與本頁工作直接相關的範圍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7D55"/>
                </a:solidFill>
                <a:latin typeface="Microsoft JhengHei"/>
              </a:rPr>
              <a:t>這樣產出的結果，比只給一個看似精確的數字，更容易被檢查、解釋與後續更新。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Microsoft JhengHei"/>
              </a:rPr>
              <a:t>崩塌地形變異分析｜工具說明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